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Enron Email Network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 what extent does communication structure reflect hierarchy?</a:t>
            </a:r>
          </a:p>
          <a:p>
            <a:pPr/>
            <a:r>
              <a:t>Team: [Fill names]</a:t>
            </a:r>
          </a:p>
          <a:p>
            <a:pPr/>
            <a:r>
              <a:t>Course: Data Mining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Hypothesis: hierarchy is partially reflected, with meaningful divergence.</a:t>
            </a:r>
          </a:p>
          <a:p>
            <a:pPr/>
            <a:r>
              <a:t>Goal: identify hubs, communities, and bridge roles.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150 mailbox directories, 500K+ message files.</a:t>
            </a:r>
          </a:p>
          <a:p>
            <a:pPr/>
            <a:r>
              <a:t>Challenges: duplicates, broadcasts, weak ties, identity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Parse sent folders</a:t>
            </a:r>
          </a:p>
          <a:p>
            <a:pPr/>
            <a:r>
              <a:t>Validate + sanity checks</a:t>
            </a:r>
          </a:p>
          <a:p>
            <a:pPr/>
            <a:r>
              <a:t>Build weighted graph</a:t>
            </a:r>
          </a:p>
          <a:p>
            <a:pPr/>
            <a:r>
              <a:t>Louvain + centrality</a:t>
            </a:r>
          </a:p>
          <a:p>
            <a:pPr/>
            <a:r>
              <a:t>Visualization + narrative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Email volume per user distribution</a:t>
            </a:r>
          </a:p>
          <a:p>
            <a:pPr/>
            <a:r>
              <a:t>Monthly communication trend</a:t>
            </a:r>
          </a:p>
        </p:txBody>
      </p:sp>
      <p:pic>
        <p:nvPicPr>
          <p:cNvPr id="4" name="Picture 3" descr="raw_email_volume_per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29260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Drop no-recipient emails</a:t>
            </a:r>
          </a:p>
          <a:p>
            <a:pPr/>
            <a:r>
              <a:t>Drop broadcasts (&gt;10 recipients)</a:t>
            </a:r>
          </a:p>
          <a:p>
            <a:pPr/>
            <a:r>
              <a:t>Filter internal @enron.com</a:t>
            </a:r>
          </a:p>
          <a:p>
            <a:pPr/>
            <a:r>
              <a:t>Keep edges with weight &gt;=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Post-Processing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Degree distribution (log-log)</a:t>
            </a:r>
          </a:p>
          <a:p>
            <a:pPr/>
            <a:r>
              <a:t>Edge weight distribution</a:t>
            </a:r>
          </a:p>
        </p:txBody>
      </p:sp>
      <p:pic>
        <p:nvPicPr>
          <p:cNvPr id="4" name="Picture 3" descr="post_degree_distribution_log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29260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Algorithm: Louvain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Community detection by modularity optimization</a:t>
            </a:r>
          </a:p>
          <a:p>
            <a:pPr/>
            <a:r>
              <a:t>No preset k required</a:t>
            </a:r>
          </a:p>
          <a:p>
            <a:pPr/>
            <a:r>
              <a:t>Run 3 seeds for stability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Algorithm: Centrality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PageRank for influence</a:t>
            </a:r>
          </a:p>
          <a:p>
            <a:pPr/>
            <a:r>
              <a:t>Betweenness for bridge detection</a:t>
            </a:r>
          </a:p>
          <a:p>
            <a:pPr/>
            <a:r>
              <a:t>Degree for communication breadth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Result (Hero Figure)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Filtered network: size=PageRank, color=community</a:t>
            </a:r>
          </a:p>
        </p:txBody>
      </p:sp>
      <p:pic>
        <p:nvPicPr>
          <p:cNvPr id="4" name="Picture 3" descr="result_network_communit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29260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Largest communities and modularity summary</a:t>
            </a:r>
          </a:p>
        </p:txBody>
      </p:sp>
      <p:pic>
        <p:nvPicPr>
          <p:cNvPr id="4" name="Picture 3" descr="result_community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29260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Centrality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 nodes by PageRank and betweenness</a:t>
            </a:r>
          </a:p>
        </p:txBody>
      </p:sp>
      <p:pic>
        <p:nvPicPr>
          <p:cNvPr id="4" name="Picture 3" descr="result_top_central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29260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 5% betweenness nodes as bridges</a:t>
            </a:r>
          </a:p>
          <a:p>
            <a:pPr/>
            <a:r>
              <a:t>Compare bridge roles against hierarchy</a:t>
            </a:r>
          </a:p>
        </p:txBody>
      </p:sp>
      <p:pic>
        <p:nvPicPr>
          <p:cNvPr id="4" name="Picture 3" descr="result_bridge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29260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 high-influence nodes from structural features</a:t>
            </a:r>
          </a:p>
          <a:p>
            <a:pPr/>
            <a:r>
              <a:t>MLP: 85.3% acc, F1=0.72</a:t>
            </a:r>
          </a:p>
          <a:p>
            <a:pPr/>
            <a:r>
              <a:t>Random Forest baseline: 91.0% acc, F1=0.85</a:t>
            </a:r>
          </a:p>
          <a:p>
            <a:pPr/>
            <a:r>
              <a:t>Network position encodes role information</a:t>
            </a:r>
          </a:p>
        </p:txBody>
      </p:sp>
      <p:pic>
        <p:nvPicPr>
          <p:cNvPr id="4" name="Picture 3" descr="result_neural_network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29260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Hierarchy partially supported; divergence is substantial.</a:t>
            </a:r>
          </a:p>
          <a:p>
            <a:pPr/>
            <a:r>
              <a:t>Neural network confirms structural features predict influence.</a:t>
            </a:r>
          </a:p>
          <a:p>
            <a:pPr/>
            <a:r>
              <a:t>Future: temporal, sentiment, external-network extensions.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(APA)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Klimt &amp; Yang (2004); Blondel et al. (2008); Hagberg et al. (2008).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